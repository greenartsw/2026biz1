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F"/>
          </a:solidFill>
          <a:ln w="12700">
            <a:solidFill>
              <a:srgbClr val="F7F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rgbClr val="213A8F"/>
          </a:solidFill>
          <a:ln w="12700">
            <a:solidFill>
              <a:srgbClr val="213A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훈련생 성장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대시보드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45354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7E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Google Slides 화면설계서 v1.0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" y="48006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7E3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제공용 · PC 기준 · 2026.07.05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29000" y="1133856"/>
            <a:ext cx="36576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그래픽 UI를 기준으로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구조 · 데이터 · 컴포넌트 · 검수 기준을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슬라이드 검토용으로 재구성했습니다.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06640" y="1133856"/>
            <a:ext cx="342900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 범위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화면 구조 분석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PC 와이어프레임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번호별 Description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UI 요소 정의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샘플 데이터/검수 체크리스트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3246120"/>
            <a:ext cx="7406640" cy="1051560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목적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훈련생의 성장성과 현장 투입 가능성을 기업 담당자가 빠르게 판단할 수 있는 제출용 리포트 화면 정의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58200" y="5870448"/>
            <a:ext cx="237744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ONO17 · Pair 업무지원자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01. 문서 정보 및 변경 이력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화면설계서 검토 전 기준 정보를 고정합니다.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91640" y="120700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20700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페이지코드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20700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SAF-GROWTH-PC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70992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70992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2026.07.05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70992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작성자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5000" y="170992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ONO17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21284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페이지명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21284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훈련생 성장 대시보드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21284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이용자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21284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기업/운영자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71576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디바이스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271576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/ Wide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71576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271576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Draft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21868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과정명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691640" y="321868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활용 UI/UX 엔지니어링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218688"/>
            <a:ext cx="1005840" cy="384048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훈련기간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3218688"/>
            <a:ext cx="29260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2026.03.02~2026.06.30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3977640"/>
            <a:ext cx="534924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UI 기준 요약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좌측 사이드바: 과정명과 훈련기간을 세로형 브랜드 영역으로 표시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중앙 대시보드: KPI, 프로필, 성장추이, 역량평가, 프로젝트/채용적합도 표시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우측 결과서: 기업 제출용 성적 결과서와 확인자 영역 포함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보안 기준: 실명 마스킹 및 개인정보 최소 노출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" y="3977640"/>
            <a:ext cx="73152" cy="1783080"/>
          </a:xfrm>
          <a:prstGeom prst="rect">
            <a:avLst/>
          </a:prstGeom>
          <a:solidFill>
            <a:srgbClr val="0B63F6"/>
          </a:solidFill>
          <a:ln w="12700">
            <a:solidFill>
              <a:srgbClr val="0B63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977640"/>
            <a:ext cx="480060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변경 이력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v1.0 / 2026.07.05 / 신규 작성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첨부 그래픽 UI 기준 Google Slides 화면설계서 구성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구글시트 버전과 동일한 번호 체계 사용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55080" y="3977640"/>
            <a:ext cx="73152" cy="17830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02. 원본 그래픽 UI 기준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훈련생 성장 대시보드와 기업 제출용 결과서를 하나의 Wide 화면으로 해석합니다.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pic>
        <p:nvPicPr>
          <p:cNvPr id="5" name="Image 0" descr="/mnt/data/image(43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497" y="1152144"/>
            <a:ext cx="8564526" cy="480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6080760"/>
            <a:ext cx="9692640" cy="274320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관점: ① 기업용 빠른 판단 ② 성장근거 시각화 ③ 성적결과서 출력 가능성 ④ 개인정보 마스킹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03. 화면 구조 IA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원본 UI는 좌측 브랜딩, 중앙 대시보드, 우측 결과서의 3분할 구조입니다.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61872"/>
            <a:ext cx="2286000" cy="411480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A. 과정 브랜딩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과정명 / 훈련기간 / 기관 아이덴티티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46120" y="1261872"/>
            <a:ext cx="4937760" cy="4114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B. 성장 대시보드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상단 KPI 5종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· 성장 추이 · 역량 평가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능력단위 점수 · 프로젝트 수행 결과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채용 적합도 · 강점/보완점/의견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30768" y="1261872"/>
            <a:ext cx="2971800" cy="4114800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C. 기업 제출용 성적 결과서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훈련생 정보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 결과 요약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능력단위별 평가 결과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 이력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확인자/발행일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57400" y="5715000"/>
            <a:ext cx="813816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흐름: 훈련 맥락 → 성장 증거 → 기업 제출 판단 자료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04. PC 화면설계 와이어프레임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콜아웃 번호는 Description 시트/슬라이드와 동일하게 연결됩니다.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7909560" cy="237744"/>
          </a:xfrm>
          <a:prstGeom prst="rect">
            <a:avLst/>
          </a:prstGeom>
          <a:solidFill>
            <a:srgbClr val="213A8F"/>
          </a:solidFill>
          <a:ln>
            <a:solidFill>
              <a:srgbClr val="213A8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PC 화면 와이어프레임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549640" y="1051560"/>
            <a:ext cx="3063240" cy="237744"/>
          </a:xfrm>
          <a:prstGeom prst="rect">
            <a:avLst/>
          </a:prstGeom>
          <a:solidFill>
            <a:srgbClr val="213A8F"/>
          </a:solidFill>
          <a:ln>
            <a:solidFill>
              <a:srgbClr val="213A8F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417320" cy="452628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① 좌측 과정 브랜딩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활용 출판·광고콘텐츠 제작 전문가 성장과정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훈련기간 표시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4434840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② 페이지 헤더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GREEN COMPUTER ACADEMY · 훈련생 성장 대시보드 · 과정/기간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56832" y="1417320"/>
            <a:ext cx="1755648" cy="4526280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⑪ 성적 결과서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제출용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평가요약 / 능력단위 / 성장이력 / 확인자</a:t>
            </a:r>
            <a:endParaRPr lang="en-US" sz="860" dirty="0"/>
          </a:p>
        </p:txBody>
      </p:sp>
      <p:sp>
        <p:nvSpPr>
          <p:cNvPr id="10" name="Text 8"/>
          <p:cNvSpPr/>
          <p:nvPr/>
        </p:nvSpPr>
        <p:spPr>
          <a:xfrm>
            <a:off x="2057400" y="2212848"/>
            <a:ext cx="749808" cy="65836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③ 출석률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98%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926080" y="2212848"/>
            <a:ext cx="749808" cy="65836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④ 최종평가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87점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94760" y="2212848"/>
            <a:ext cx="749808" cy="65836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⑤ 성장률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+35점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63440" y="2212848"/>
            <a:ext cx="749808" cy="65836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⑥ 참여율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532120" y="2212848"/>
            <a:ext cx="749808" cy="65836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⑦ 협업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57400" y="3054096"/>
            <a:ext cx="1298448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⑧ 프로필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김*민 / ID / 성취유형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소속기업 / 직무목표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QR 포트폴리오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3502152" y="3054096"/>
            <a:ext cx="1536192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⑨ 성장 추이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 52 → 중간 71 → 최종 87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[Line Chart]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5193792" y="3054096"/>
            <a:ext cx="1298448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⑩ 6대 역량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UI/UX/AI/프로젝트/협업/문서화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[Radar]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2057400" y="4553712"/>
            <a:ext cx="129844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⑫ 능력단위 점수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[Bar]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3502152" y="4553712"/>
            <a:ext cx="1536192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⑬ 프로젝트 수행 결과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[Table]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193792" y="4553712"/>
            <a:ext cx="1298448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⑭ 채용 적합도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94% [Gauge]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057400" y="5532120"/>
            <a:ext cx="129844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⑮ 강점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3502152" y="5532120"/>
            <a:ext cx="1536192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⑯ 보완점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193792" y="5532120"/>
            <a:ext cx="1298448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⑰ 교수자 의견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8549640" y="1417320"/>
            <a:ext cx="3063240" cy="646611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  영역명                     설명</a:t>
            </a:r>
            <a:endParaRPr lang="en-US" sz="630" dirty="0"/>
          </a:p>
        </p:txBody>
      </p:sp>
      <p:sp>
        <p:nvSpPr>
          <p:cNvPr id="25" name="Text 23"/>
          <p:cNvSpPr/>
          <p:nvPr/>
        </p:nvSpPr>
        <p:spPr>
          <a:xfrm>
            <a:off x="8549640" y="2063931"/>
            <a:ext cx="3063240" cy="64661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1~2    브랜딩/헤더</a:t>
            </a:r>
            <a:endParaRPr lang="en-US" sz="630" dirty="0"/>
          </a:p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과정 맥락과 문서 기준 정보</a:t>
            </a:r>
            <a:endParaRPr lang="en-US" sz="630" dirty="0"/>
          </a:p>
        </p:txBody>
      </p:sp>
      <p:sp>
        <p:nvSpPr>
          <p:cNvPr id="26" name="Text 24"/>
          <p:cNvSpPr/>
          <p:nvPr/>
        </p:nvSpPr>
        <p:spPr>
          <a:xfrm>
            <a:off x="8549640" y="2710543"/>
            <a:ext cx="3063240" cy="646611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3~7    KPI 카드</a:t>
            </a:r>
            <a:endParaRPr lang="en-US" sz="630" dirty="0"/>
          </a:p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성실도·성과·성장·참여·협업 요약</a:t>
            </a:r>
            <a:endParaRPr lang="en-US" sz="630" dirty="0"/>
          </a:p>
        </p:txBody>
      </p:sp>
      <p:sp>
        <p:nvSpPr>
          <p:cNvPr id="27" name="Text 25"/>
          <p:cNvSpPr/>
          <p:nvPr/>
        </p:nvSpPr>
        <p:spPr>
          <a:xfrm>
            <a:off x="8549640" y="3357154"/>
            <a:ext cx="3063240" cy="64661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8~10    프로필/차트</a:t>
            </a:r>
            <a:endParaRPr lang="en-US" sz="630" dirty="0"/>
          </a:p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개인정보와 성장/역량 시각화</a:t>
            </a:r>
            <a:endParaRPr lang="en-US" sz="630" dirty="0"/>
          </a:p>
        </p:txBody>
      </p:sp>
      <p:sp>
        <p:nvSpPr>
          <p:cNvPr id="28" name="Text 26"/>
          <p:cNvSpPr/>
          <p:nvPr/>
        </p:nvSpPr>
        <p:spPr>
          <a:xfrm>
            <a:off x="8549640" y="4003766"/>
            <a:ext cx="3063240" cy="646611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   성적 결과서</a:t>
            </a:r>
            <a:endParaRPr lang="en-US" sz="630" dirty="0"/>
          </a:p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제출용 단일 요약 리포트</a:t>
            </a:r>
            <a:endParaRPr lang="en-US" sz="630" dirty="0"/>
          </a:p>
        </p:txBody>
      </p:sp>
      <p:sp>
        <p:nvSpPr>
          <p:cNvPr id="29" name="Text 27"/>
          <p:cNvSpPr/>
          <p:nvPr/>
        </p:nvSpPr>
        <p:spPr>
          <a:xfrm>
            <a:off x="8549640" y="4650377"/>
            <a:ext cx="3063240" cy="646611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12~14    평가/프로젝트/적합도</a:t>
            </a:r>
            <a:endParaRPr lang="en-US" sz="630" dirty="0"/>
          </a:p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역량·실무성과·현장 투입 가능성</a:t>
            </a:r>
            <a:endParaRPr lang="en-US" sz="630" dirty="0"/>
          </a:p>
        </p:txBody>
      </p:sp>
      <p:sp>
        <p:nvSpPr>
          <p:cNvPr id="30" name="Text 28"/>
          <p:cNvSpPr/>
          <p:nvPr/>
        </p:nvSpPr>
        <p:spPr>
          <a:xfrm>
            <a:off x="8549640" y="5296989"/>
            <a:ext cx="3063240" cy="646611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15~17    정성평가</a:t>
            </a:r>
            <a:endParaRPr lang="en-US" sz="630" dirty="0"/>
          </a:p>
          <a:p>
            <a:pPr algn="l" indent="0" marL="0">
              <a:buNone/>
            </a:pPr>
            <a:r>
              <a:rPr lang="en-US" sz="6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강점·보완점·교수자 의견</a:t>
            </a:r>
            <a:endParaRPr lang="en-US" sz="630" dirty="0"/>
          </a:p>
        </p:txBody>
      </p:sp>
      <p:sp>
        <p:nvSpPr>
          <p:cNvPr id="31" name="Text 29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05. 번호별 Description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개발·디자인·운영 담당자가 같은 번호로 논의할 수 있도록 정의합니다.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07008"/>
            <a:ext cx="10835640" cy="53340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   영역명                     설명</a:t>
            </a:r>
            <a:endParaRPr lang="en-US" sz="830" dirty="0"/>
          </a:p>
        </p:txBody>
      </p:sp>
      <p:sp>
        <p:nvSpPr>
          <p:cNvPr id="6" name="Text 4"/>
          <p:cNvSpPr/>
          <p:nvPr/>
        </p:nvSpPr>
        <p:spPr>
          <a:xfrm>
            <a:off x="685800" y="1740408"/>
            <a:ext cx="1083564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    좌측 과정 브랜딩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과정명과 훈련기간을 세로형 브랜드 영역으로 고정 표시한다.</a:t>
            </a:r>
            <a:endParaRPr lang="en-US" sz="830" dirty="0"/>
          </a:p>
        </p:txBody>
      </p:sp>
      <p:sp>
        <p:nvSpPr>
          <p:cNvPr id="7" name="Text 5"/>
          <p:cNvSpPr/>
          <p:nvPr/>
        </p:nvSpPr>
        <p:spPr>
          <a:xfrm>
            <a:off x="685800" y="2273808"/>
            <a:ext cx="10835640" cy="53340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    페이지 헤더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기관 로고, 화면명, 과정명, 기간을 기준 정보로 제공한다.</a:t>
            </a:r>
            <a:endParaRPr lang="en-US" sz="830" dirty="0"/>
          </a:p>
        </p:txBody>
      </p:sp>
      <p:sp>
        <p:nvSpPr>
          <p:cNvPr id="8" name="Text 6"/>
          <p:cNvSpPr/>
          <p:nvPr/>
        </p:nvSpPr>
        <p:spPr>
          <a:xfrm>
            <a:off x="685800" y="2807208"/>
            <a:ext cx="1083564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3~7    상단 KPI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출석률, 최종평가, 성장률, 프로젝트 참여율, 협업등급을 카드로 표시한다.</a:t>
            </a:r>
            <a:endParaRPr lang="en-US" sz="830" dirty="0"/>
          </a:p>
        </p:txBody>
      </p:sp>
      <p:sp>
        <p:nvSpPr>
          <p:cNvPr id="9" name="Text 7"/>
          <p:cNvSpPr/>
          <p:nvPr/>
        </p:nvSpPr>
        <p:spPr>
          <a:xfrm>
            <a:off x="685800" y="3340608"/>
            <a:ext cx="10835640" cy="53340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    훈련생 프로필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실명 마스킹, ID, 성취유형, 기업, 직무목표, QR 링크를 제공한다.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685800" y="3874008"/>
            <a:ext cx="1083564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9~10    성장/역량 차트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평가차수별 성장과 6대 역량 균형을 시각화한다.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685800" y="4407408"/>
            <a:ext cx="10835640" cy="53340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    성적 결과서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제출용 평가 요약과 확인자 영역을 포함한다.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685800" y="4940808"/>
            <a:ext cx="10835640" cy="533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12~14    실무성과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능력단위 점수, 프로젝트 결과, 채용 적합도를 표시한다.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685800" y="5474208"/>
            <a:ext cx="10835640" cy="53340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15~17    정성 피드백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강점, 보완점, 교수자 종합 의견을 기업 문장으로 정리한다.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06. UI 요소 정의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구글시트/개발 화면/출력 리포트로 확장 가능한 컴포넌트 단위입니다.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5074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C-01  KPI 카드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출석률, 최종평가, 성장률, 참여율, 협업등급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217920" y="1234440"/>
            <a:ext cx="5074920" cy="77724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C-02  프로필 카드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훈련생 마스킹 정보와 포트폴리오 QR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5074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C-03  성장 추이 차트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사전·중간·최종 평가 흐름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6217920" y="2377440"/>
            <a:ext cx="5074920" cy="77724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C-04  6대 역량 차트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UI/UX/AI/프로젝트/협업/문서화 균형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5074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C-05  프로젝트 표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프로젝트명, 역할, 기간, 평가등급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217920" y="3520440"/>
            <a:ext cx="5074920" cy="77724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C-06  채용 적합도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투입 가능성과 보조 지표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50749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C-07  성적 결과서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제출용 PDF/인쇄 영역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217920" y="4663440"/>
            <a:ext cx="5074920" cy="77724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C-08  정성 의견 패널</a:t>
            </a:r>
            <a:endParaRPr lang="en-US" sz="1020" dirty="0"/>
          </a:p>
          <a:p>
            <a:pPr algn="l" indent="0" marL="0">
              <a:buNone/>
            </a:pPr>
            <a:r>
              <a:rPr lang="en-US" sz="1020" b="1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강점, 보완점, 교수자 의견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960120" y="5815584"/>
            <a:ext cx="10149840" cy="411480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상태 기준: 정상 / 주의 / 데이터없음 / 검수중 / 확정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연동 기준: 훈련생 DB, 평가표, 프로젝트 DB, 포트폴리오 링크, 교수자 종합 의견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07. 데이터 샘플 및 계산 기준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원천 데이터와 화면 표시 문구를 분리해 검수 가능하도록 설계합니다.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2057400" cy="41148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지표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0" y="1234440"/>
            <a:ext cx="1280160" cy="41148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값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23360" y="1234440"/>
            <a:ext cx="1280160" cy="41148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2331720" cy="41148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산식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35240" y="1234440"/>
            <a:ext cx="3886200" cy="411480"/>
          </a:xfrm>
          <a:prstGeom prst="rect">
            <a:avLst/>
          </a:prstGeom>
          <a:solidFill>
            <a:srgbClr val="213A8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표시문구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20574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출석률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2743200" y="1645920"/>
            <a:ext cx="1280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156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4023360" y="1645920"/>
            <a:ext cx="1280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160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5303520" y="1645920"/>
            <a:ext cx="23317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=B/C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7635240" y="1645920"/>
            <a:ext cx="38862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98% (156/160일)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685800" y="2057400"/>
            <a:ext cx="205740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최종평가 평균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2743200" y="2057400"/>
            <a:ext cx="128016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87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023360" y="2057400"/>
            <a:ext cx="128016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303520" y="2057400"/>
            <a:ext cx="233172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=점수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7635240" y="2057400"/>
            <a:ext cx="388620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87점 (100점 만점)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85800" y="2468880"/>
            <a:ext cx="20574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성장률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2743200" y="2468880"/>
            <a:ext cx="1280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52→87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4023360" y="2468880"/>
            <a:ext cx="1280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303520" y="2468880"/>
            <a:ext cx="23317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=최종-사전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635240" y="2468880"/>
            <a:ext cx="38862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+35점 향상 (+67%)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85800" y="2880360"/>
            <a:ext cx="205740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참여율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2743200" y="2880360"/>
            <a:ext cx="128016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4023360" y="2880360"/>
            <a:ext cx="128016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5303520" y="2880360"/>
            <a:ext cx="233172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=완료/전체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635240" y="2880360"/>
            <a:ext cx="3886200" cy="411480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100% (3/3 프로젝트)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685800" y="3291840"/>
            <a:ext cx="20574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협업등급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2743200" y="3291840"/>
            <a:ext cx="1280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95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4023360" y="3291840"/>
            <a:ext cx="128016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100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5303520" y="3291840"/>
            <a:ext cx="233172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=등급매핑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7635240" y="3291840"/>
            <a:ext cx="388620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(우수)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685800" y="4736592"/>
            <a:ext cx="5303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설계 주의점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개인정보는 기업 제출본에서 마스킹 처리한다.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성장률은 사전진단 값이 없을 경우 표시하지 않는다.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점수·등급 기준은 기관 평가 기준표와 연결한다.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교수자 의견은 과장 표현보다 근거 기반 문장으로 작성한다.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4736592"/>
            <a:ext cx="73152" cy="1234440"/>
          </a:xfrm>
          <a:prstGeom prst="rect">
            <a:avLst/>
          </a:prstGeom>
          <a:solidFill>
            <a:srgbClr val="0B63F6"/>
          </a:solidFill>
          <a:ln w="12700">
            <a:solidFill>
              <a:srgbClr val="0B63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4736592"/>
            <a:ext cx="5303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후속 연동 후보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구글폼 응답 → 원천 데이터 시트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평가표 → 능력단위별 점수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프로젝트 결과표 → 수행 결과 영역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출력 버튼 → PDF/기업 제출용 결과서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4736592"/>
            <a:ext cx="73152" cy="12344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08. 검수 체크리스트 및 다음 단계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12064" y="713232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화면설계서 확정 전 운영·디자인·데이터 기준을 함께 점검합니다.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9525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70432"/>
            <a:ext cx="50749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기획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기업 제공용 목적에 맞게 성장성과 채용 적합도가 먼저 보이는가?</a:t>
            </a:r>
            <a:endParaRPr lang="en-US" sz="940" dirty="0"/>
          </a:p>
        </p:txBody>
      </p:sp>
      <p:sp>
        <p:nvSpPr>
          <p:cNvPr id="6" name="Text 4"/>
          <p:cNvSpPr/>
          <p:nvPr/>
        </p:nvSpPr>
        <p:spPr>
          <a:xfrm>
            <a:off x="6217920" y="1170432"/>
            <a:ext cx="5074920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정보구조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좌측 브랜딩·중앙 대시보드·우측 결과서 3분할 구조가 명확한가?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50749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개인정보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실명, 연락처, 포트폴리오 링크 노출 수준이 정책에 맞는가?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217920" y="1993392"/>
            <a:ext cx="5074920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데이터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출석률, 성장률, 참여율, 총점 공식이 원천 데이터와 일치하는가?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731520" y="2816352"/>
            <a:ext cx="50749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시각화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KPI, 성장추이, 역량, 채용적합도 시각화가 과장 없이 읽히는가?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6217920" y="2816352"/>
            <a:ext cx="5074920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문장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강점·보완점·교수자 의견이 기업 커뮤니케이션에 적합한가?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731520" y="3639312"/>
            <a:ext cx="50749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출력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PDF/인쇄 시 결과서 패널이 잘리지 않는가?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6217920" y="3639312"/>
            <a:ext cx="5074920" cy="566928"/>
          </a:xfrm>
          <a:prstGeom prst="rect">
            <a:avLst/>
          </a:prstGeom>
          <a:solidFill>
            <a:srgbClr val="F7FA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 연동</a:t>
            </a:r>
            <a:endParaRPr lang="en-US" sz="940" dirty="0"/>
          </a:p>
          <a:p>
            <a:pPr algn="l" indent="0" marL="0">
              <a:buNone/>
            </a:pPr>
            <a:r>
              <a:rPr lang="en-US" sz="940" dirty="0">
                <a:solidFill>
                  <a:srgbClr val="34405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구글폼/시트 데이터와 연결할 셀·필드 기준이 분리되어 있는가?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1005840" y="5166360"/>
            <a:ext cx="9875520" cy="502920"/>
          </a:xfrm>
          <a:prstGeom prst="rect">
            <a:avLst/>
          </a:prstGeom>
          <a:solidFill>
            <a:srgbClr val="EDF4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단계 제안: Google Sheets 원천 데이터 → Google Slides 결과서 자동 생성 → PDF 제출본 패키징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5870448"/>
            <a:ext cx="92354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018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완료 기준: 화면 번호 확정 · 데이터 필드 확정 · 개인정보 마스킹 기준 확정 · PDF 출력 기준 확정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50292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8A2B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 FRAMEWORK · 훈련생 성장 대시보드 화면설계서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384280" y="64922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13A8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ON:DA.LAB / GREEN COMPUTER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훈련생 성장 대시보드 화면설계서</dc:title>
  <dc:subject>훈련생 성장 대시보드 화면설계서 Google Slides 버전</dc:subject>
  <dc:creator>ONO17</dc:creator>
  <cp:lastModifiedBy>ONO17</cp:lastModifiedBy>
  <cp:revision>1</cp:revision>
  <dcterms:created xsi:type="dcterms:W3CDTF">2026-07-05T06:01:00Z</dcterms:created>
  <dcterms:modified xsi:type="dcterms:W3CDTF">2026-07-05T06:01:00Z</dcterms:modified>
</cp:coreProperties>
</file>